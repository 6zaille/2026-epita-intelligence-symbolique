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22960" y="1965960"/>
            <a:ext cx="310896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22960" y="214884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Puissance 4 — Intelligence artificielle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Minimax / α-β  ·  MCTS  ·  DQN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Résolution de jeux combinatoires par recherche adversariale, recherche stochastique et apprentissage par renforcement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Projet L3  ·  Soutenance individuelle  ·  Livrables : code · notebook · démo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6998" y="0"/>
            <a:ext cx="12191700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CONTEXTE &amp; THÉORIE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Le Puissance 4, un jeu combinatoire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39495" y="2903580"/>
            <a:ext cx="5943600" cy="1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Nature du problème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Jeu à deux joueurs, à somme nulle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Information parfaite, tour par tour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Pas de hasard : issue théoriquement déterminée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Plateau 6×7 → ≈ 4,5 × 10¹² positions légales</a:t>
            </a:r>
            <a:endParaRPr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858000" y="1737360"/>
            <a:ext cx="4846320" cy="420624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132320" y="19202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Question du projet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32320" y="2468880"/>
            <a:ext cx="43891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Comparer trois grandes familles d'IA de jeu sur un même problème 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① recherche exacte  (minimax / α-β)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② recherche stochastique  (MCTS)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③ apprentissage  (DQN, self-play)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Laquelle joue le mieux ? Le plus vite 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CLASSES D'ALGORITHMES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Trois façons de « penser » un coup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02920" y="1691640"/>
            <a:ext cx="3611880" cy="429768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02920" y="1691640"/>
            <a:ext cx="3611880" cy="10972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31520" y="19659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① Minimax + α-β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31520" y="2697480"/>
            <a:ext cx="32004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Recherche exhaustive de l'arbre</a:t>
            </a:r>
            <a:endParaRPr/>
          </a:p>
          <a:p>
            <a:pPr indent="-182880" lvl="0" marL="182880" marR="0" rtl="0" algn="l">
              <a:spcBef>
                <a:spcPts val="80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Élagage α-β, table de transposition, move ordering</a:t>
            </a:r>
            <a:endParaRPr/>
          </a:p>
          <a:p>
            <a:pPr indent="-182880" lvl="0" marL="182880" marR="0" rtl="0" algn="l">
              <a:spcBef>
                <a:spcPts val="80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Exact jusqu'à la profondeur 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9AA7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→ von Neumann 1928 · α-β 1960s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297680" y="1691640"/>
            <a:ext cx="3611880" cy="429768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297680" y="1691640"/>
            <a:ext cx="3611880" cy="109728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526280" y="19659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② MCTS (UCB1)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26280" y="2697480"/>
            <a:ext cx="32004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Simulations aléatoires guidées</a:t>
            </a:r>
            <a:endParaRPr/>
          </a:p>
          <a:p>
            <a:pPr indent="-182880" lvl="0" marL="182880" marR="0" rtl="0" algn="l">
              <a:spcBef>
                <a:spcPts val="800"/>
              </a:spcBef>
              <a:spcAft>
                <a:spcPts val="0"/>
              </a:spcAft>
              <a:buClr>
                <a:srgbClr val="66BB6A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Compromis exploration / exploitation (UCB1)</a:t>
            </a:r>
            <a:endParaRPr/>
          </a:p>
          <a:p>
            <a:pPr indent="-182880" lvl="0" marL="182880" marR="0" rtl="0" algn="l">
              <a:spcBef>
                <a:spcPts val="800"/>
              </a:spcBef>
              <a:spcAft>
                <a:spcPts val="0"/>
              </a:spcAft>
              <a:buClr>
                <a:srgbClr val="66BB6A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Anytime, sans heuristique de jeu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9AA7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→ Kocsis &amp; Szepesvári 2006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8092440" y="1691640"/>
            <a:ext cx="3611880" cy="429768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092440" y="1691640"/>
            <a:ext cx="3611880" cy="109728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321040" y="19659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③ DQN (RL)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21040" y="2697480"/>
            <a:ext cx="32004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-182880" lvl="0" marL="182880" marR="0" rtl="0" algn="l"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Réseau de neurones (CNN)</a:t>
            </a:r>
            <a:endParaRPr/>
          </a:p>
          <a:p>
            <a:pPr indent="-182880" lvl="0" marL="182880" marR="0" rtl="0" algn="l">
              <a:spcBef>
                <a:spcPts val="800"/>
              </a:spcBef>
              <a:spcAft>
                <a:spcPts val="0"/>
              </a:spcAft>
              <a:buClr>
                <a:srgbClr val="FFCA28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Apprend par self-play (replay buffer, ε-greedy)</a:t>
            </a:r>
            <a:endParaRPr/>
          </a:p>
          <a:p>
            <a:pPr indent="-182880" lvl="0" marL="182880" marR="0" rtl="0" algn="l">
              <a:spcBef>
                <a:spcPts val="800"/>
              </a:spcBef>
              <a:spcAft>
                <a:spcPts val="0"/>
              </a:spcAft>
              <a:buClr>
                <a:srgbClr val="FFCA28"/>
              </a:buClr>
              <a:buSzPts val="140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Décision quasi instantanée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9AA7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→ Mnih et al. 2015 (Atari)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QUALITÉ TECHNIQUE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Le moteur de jeu — la fondation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02920" y="1645920"/>
            <a:ext cx="6035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game/connect_four.py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Plateau 6×7 en NumPy, gestion de la gravité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Détection de victoire (4 alignés) optimisée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Hachage de Zobrist → clés O(1) pour la</a:t>
            </a:r>
            <a:endParaRPr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table de transposition de l'α-β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API commune Agent → tous les agents</a:t>
            </a:r>
            <a:endParaRPr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interchangeables dans le tournoi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•  Base validée par 58 tests pytest</a:t>
            </a:r>
            <a:endParaRPr/>
          </a:p>
        </p:txBody>
      </p:sp>
      <p:pic>
        <p:nvPicPr>
          <p:cNvPr descr="board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815" y="1737360"/>
            <a:ext cx="4422130" cy="429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① RECHERCHE EXACTE — THÉORIE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Minimax &amp; élagage alpha-bêta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02920" y="1600200"/>
            <a:ext cx="57607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Principe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Minimax : je maximise mon gain en supposant</a:t>
            </a:r>
            <a:endParaRPr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l'adversaire optimal (min). Théorème de von Neumann.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α-β : coupe les branches qui ne peuvent plus</a:t>
            </a:r>
            <a:endParaRPr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influencer la décision → même résultat, moins de nœuds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Complexité : O(b^d) → O(b^{d/2}) au mieux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Nos optimisations (cumulées)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Table de transposition (positions déjà vues)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Move ordering (centre d'abord → coupe plus tôt)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Heuristique d'évaluation des positions non finies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6537960" y="1737360"/>
            <a:ext cx="5166360" cy="420624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812280" y="1920240"/>
            <a:ext cx="46634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À retenir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α-β ne change JAMAIS le coup choisi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Il ne fait qu'explorer moins de nœuds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Gain mesuré : plusieurs ordres de</a:t>
            </a:r>
            <a:endParaRPr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grandeur en moins (voir slide suivante)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en-US" sz="15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C'est le cœur du sujet L3.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① RECHERCHE EXACTE — RÉSULTAT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L'élagage α-β rendu visible</a:t>
            </a:r>
            <a:endParaRPr/>
          </a:p>
        </p:txBody>
      </p:sp>
      <p:pic>
        <p:nvPicPr>
          <p:cNvPr descr="pruning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68475"/>
            <a:ext cx="11155680" cy="4012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02920" y="5623560"/>
            <a:ext cx="11155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À gauche : l'arbre de recherche, branches coupées en rouge. À droite (échelle log) : nombre de nœuds explorés.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minimax pur ≈ 7^profondeur  →  chaque optimisation (α-β, table de transposition, move ordering) réduit drastiquement l'explosion combinatoire.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② RECHERCHE STOCHASTIQUE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Monte Carlo Tree Search (UCB1)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02920" y="1600200"/>
            <a:ext cx="58521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Quatre étapes répétées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Sélection </a:t>
            </a:r>
            <a:r>
              <a:rPr lang="en-US" sz="1550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descendre l'arbre via UCB1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Expansion </a:t>
            </a:r>
            <a:r>
              <a:rPr lang="en-US" sz="1550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ajouter un nouveau nœud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Simulation </a:t>
            </a:r>
            <a:r>
              <a:rPr lang="en-US" sz="1550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partie aléatoire jusqu'à la fin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Rétropropagation </a:t>
            </a:r>
            <a:r>
              <a:rPr lang="en-US" sz="1550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remonter le résultat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•  UCB1 = exploitation + exploration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Aucune heuristique de jeu requise, et « anytime » :</a:t>
            </a:r>
            <a:endParaRPr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on peut l'arrêter quand on veut → plus de temps = plus fort</a:t>
            </a:r>
            <a:endParaRPr/>
          </a:p>
        </p:txBody>
      </p:sp>
      <p:pic>
        <p:nvPicPr>
          <p:cNvPr descr="mcts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2551308"/>
            <a:ext cx="5120640" cy="239546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6583680" y="544068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Visites par colonne : MCTS concentre ses simulations sur les coups prometteurs.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③ APPRENTISSAGE PAR RENFORCEMENT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Deep Q-Network en self-play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02883" y="1925380"/>
            <a:ext cx="51207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Idée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CNN estime Q(état, colonne) : la valeur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espérée de chaque coup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 Apprend seul, par self-play (replay buffer,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ε-greedy, cible façon negamax)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 Décision quasi instantanée : un passage réseau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02920" y="5486400"/>
            <a:ext cx="5120640" cy="91440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85800" y="5577840"/>
            <a:ext cx="47550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Résultat : 99 % de victoires vs Random après 2500 </a:t>
            </a:r>
            <a:r>
              <a:rPr b="1" lang="en-US" sz="1600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parties (épisodes)</a:t>
            </a:r>
            <a:r>
              <a:rPr b="1" i="0" lang="en-US" sz="16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descr="dqn_train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0" y="3106317"/>
            <a:ext cx="5852160" cy="183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RÉSULTATS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Tournoi round-robin — qui gagne ?</a:t>
            </a:r>
            <a:endParaRPr/>
          </a:p>
        </p:txBody>
      </p:sp>
      <p:pic>
        <p:nvPicPr>
          <p:cNvPr descr="heatmap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345" y="1554480"/>
            <a:ext cx="5104109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Classement (round-robin · 12 parties / paire · 1ᵉʳ joueur alterné)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400800" y="2286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🥇 AlphaBeta (d=5)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601200" y="22860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31 pts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10698480" y="22860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≈ 13 ms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400800" y="28529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🥈 MCTS (600 sim)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9601200" y="285292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29 pts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0698480" y="2852928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≈ 130 ms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400800" y="3419856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🥉 DQN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601200" y="341985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12 pts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0698480" y="341985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≈ 1 ms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400800" y="3986784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   Random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9601200" y="398678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 pt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10698480" y="3986784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≈ 0,1 ms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309360" y="47091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α-β en tête (31 pts), de justesse devant MCTS (29 pts).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Duel direct α-β vs MCTS : 7–5 ; MCTS ~10× plus lent.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DQN quasi instantané, mais battu 0–12 par les deux moteurs de recherche.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PERFORMANCES &amp; LIMITES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Le compromis force / vitesse</a:t>
            </a:r>
            <a:endParaRPr/>
          </a:p>
        </p:txBody>
      </p:sp>
      <p:pic>
        <p:nvPicPr>
          <p:cNvPr descr="speed_strength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8614" y="1508760"/>
            <a:ext cx="8384291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dget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371" y="4343400"/>
            <a:ext cx="6728058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8412480" y="4389120"/>
            <a:ext cx="3291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Ce que ça montre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Plus de temps alloué = MCTS/α-β plus forts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À budget très serré, MCTS reste correct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DQN : force fixe, indépendante du temps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Forces &amp; limites de chaque approche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02920" y="1691640"/>
            <a:ext cx="11201400" cy="132588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02920" y="1691640"/>
            <a:ext cx="109728" cy="13258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77240" y="1691640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Minimax / α-β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3383280" y="1801368"/>
            <a:ext cx="4023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+  Forces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Jeu quasi parfait à faible profondeur ; exact et prévisible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589520" y="1801368"/>
            <a:ext cx="397763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–  Limites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Coûteux en profondeur ; dépend d'une bonne heuristique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02920" y="3172968"/>
            <a:ext cx="11201400" cy="132588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02920" y="3172968"/>
            <a:ext cx="109728" cy="13258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777240" y="3172968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MCTS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3383280" y="3282696"/>
            <a:ext cx="4023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+  Forces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Aucune heuristique requise ; anytime ; passe à l'échelle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7589520" y="3282696"/>
            <a:ext cx="397763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–  Limites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Lent (beaucoup de simulations) ; bruit stochastique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02920" y="4654296"/>
            <a:ext cx="11201400" cy="132588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2920" y="4654296"/>
            <a:ext cx="109728" cy="132588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777240" y="4654296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DQN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3383280" y="4764024"/>
            <a:ext cx="4023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+  Forces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Décision instantanée ; apprend sans connaissance experte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7589520" y="4764024"/>
            <a:ext cx="397763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–  Limites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Entraînement long ; force plafonnée ; boîte noire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822960" y="2286000"/>
            <a:ext cx="2377440" cy="82296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822960" y="22860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DÉMO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822960" y="3383280"/>
            <a:ext cx="10515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Jouer en direct contre un agent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Notebook  →  §7  «  Jouez contre un agent  »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On choisit l'adversaire (α-β / MCTS / DQN), on joue une colonne, et on affiche « ce que l'agent pense » sous le plateau 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évaluation α-β  ·  visites MCTS  ·  Q-valeurs DQN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502920" y="320040"/>
            <a:ext cx="11338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502920" y="603504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Bilan &amp; perspectives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502920" y="1645920"/>
            <a:ext cx="5577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Ce qu'on retient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Trois familles d'IA implémentées et comparées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 Sur ce jeu, α-β devance MCTS de justesse (31–29) ;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DQN ne bat que Random, mais décide instantanément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 Chaque méthode brille dans un régime différent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temps / connaissance / entraînement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 L'élagage α-β : gain spectaculaire, coup identique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6309360" y="1783080"/>
            <a:ext cx="5394960" cy="4206240"/>
          </a:xfrm>
          <a:prstGeom prst="rect">
            <a:avLst/>
          </a:prstGeom>
          <a:solidFill>
            <a:srgbClr val="1B2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6583680" y="2011680"/>
            <a:ext cx="4846200" cy="24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CA28"/>
                </a:solidFill>
                <a:latin typeface="Calibri"/>
                <a:ea typeface="Calibri"/>
                <a:cs typeface="Calibri"/>
                <a:sym typeface="Calibri"/>
              </a:rPr>
              <a:t>Perspectives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AlphaZero-lite : un réseau policy + value</a:t>
            </a:r>
            <a:endParaRPr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guidant MCTS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Bitboards → α-β beaucoup plus profond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Solveur parfait</a:t>
            </a:r>
            <a:endParaRPr sz="1550">
              <a:solidFill>
                <a:srgbClr val="ECF1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ECF1F6"/>
                </a:solidFill>
                <a:latin typeface="Calibri"/>
                <a:ea typeface="Calibri"/>
                <a:cs typeface="Calibri"/>
                <a:sym typeface="Calibri"/>
              </a:rPr>
              <a:t>•  DQN : réseau plus profond + auto-jeu prolongé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Merci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