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CADCFC"/>
                </a:solidFill>
              </a:rPr>
              <a:t>INTELLIGENCE SYMBOLIQUE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201168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Pouvoir de coalition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 vérification formelle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371600" y="397764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ADCFC"/>
                </a:solidFill>
              </a:rPr>
              <a:t>Indices de Shapley-Shubik, Banzhaf, Deegan-Packel, preuve par Z3 et données électorales réelles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937760" y="4846320"/>
            <a:ext cx="2286000" cy="0"/>
          </a:xfrm>
          <a:prstGeom prst="line">
            <a:avLst/>
          </a:prstGeom>
          <a:noFill/>
          <a:ln w="19050">
            <a:solidFill>
              <a:srgbClr val="F2A9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50292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Ilias Kalalou  -  Kaelan Grall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54406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EPITA SCIA - 2026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pouvoir n'est pas le poids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60350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1600" dirty="0">
                <a:solidFill>
                  <a:srgbClr val="333333"/>
                </a:solidFill>
              </a:rPr>
              <a:t>Dans un vote, la capacité réelle d'un acteur à faire basculer une décision ne se confond pas avec son nombre de sièges ou de voix.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</a:rPr>
              <a:t>Un petit parti charnière peut peser autant que deux grands blocs.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</a:rPr>
              <a:t>Un grand parti isolé idéologiquement peut être quasi impuissant.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600" dirty="0">
                <a:solidFill>
                  <a:srgbClr val="1E2761"/>
                </a:solidFill>
              </a:rPr>
              <a:t>Mesurer ce pouvoir réel demande des indices spécifiques et une garantie de correction.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406640" y="1554480"/>
            <a:ext cx="4023360" cy="32918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406640" y="18288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[ 51 ; 49, 48, 3 ]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06640" y="2423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Trois partis, poids 49, 48 et 3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406640" y="288036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3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7589520" y="3886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de pouvoir pour chacun, y compris le petit parti de poids 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5B6478"/>
                </a:solidFill>
              </a:rPr>
              <a:t>Le paradoxe du parti charnière : toute paire atteint le quota, les trois acteurs sont interchangeables.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Modèle : le jeu de vote pondéré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Notation </a:t>
            </a:r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q ; w1, ..., wn ]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2057400"/>
            <a:ext cx="640080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Chaque joueur i dispose d'un poids wi (sièges, voix, actions).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Une coalition S l'emporte si la somme de ses poids atteint le quota q.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Fonction caractéristique v(S) = 1 si S gagne, 0 sinon.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Joueur critique (swing) : son départ fait perdre la coalition.</a:t>
            </a:r>
            <a:endParaRPr lang="en-US" sz="16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33333"/>
                </a:solidFill>
              </a:rPr>
              <a:t>Coalition gagnante minimale : tous ses membres sont critiques.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2057400"/>
            <a:ext cx="384048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0" y="22402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Exemple  [ 3 ; 2, 1, 1 ]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0" y="2697480"/>
            <a:ext cx="3474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5B6478"/>
                </a:solidFill>
              </a:rPr>
              <a:t>Coalitions gagnantes minimales :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{P0, P1}   {P0, P2}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P0 est présent dans les deux : il a un droit de veto.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0" y="397764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Shapley-Shubik :  </a:t>
            </a:r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2/3, 1/6, 1/6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indices de pouvoir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34290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429000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6" name="Shape 4"/>
          <p:cNvSpPr/>
          <p:nvPr/>
        </p:nvSpPr>
        <p:spPr>
          <a:xfrm>
            <a:off x="100584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6012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Shapley-Shubik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3154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</a:rPr>
              <a:t>Fraction des ordres d'arrivée où le joueur est pivot, celui qui fait basculer la coalition.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A4A"/>
                </a:solidFill>
              </a:rPr>
              <a:t>Somme =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1463040"/>
            <a:ext cx="34290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434840" y="1463040"/>
            <a:ext cx="3429000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13" name="Shape 11"/>
          <p:cNvSpPr/>
          <p:nvPr/>
        </p:nvSpPr>
        <p:spPr>
          <a:xfrm>
            <a:off x="470916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470916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Banzhaf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663440" y="3154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</a:rPr>
              <a:t>Part des coalitions où le joueur est critique. Deux variantes : brut (probabilité d'être décisif) et normalisé.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66344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A900"/>
                </a:solidFill>
              </a:rPr>
              <a:t>Brut : somme libre  |  Normalisé : 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38160" y="1463040"/>
            <a:ext cx="342900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138160" y="1463040"/>
            <a:ext cx="3429000" cy="1097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8412480" y="182880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8366760" y="26060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Deegan-Packel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66760" y="315468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333333"/>
                </a:solidFill>
              </a:rPr>
              <a:t>Partage égal du pouvoir au sein des seules coalitions gagnantes minimales.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836676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8A4A"/>
                </a:solidFill>
              </a:rPr>
              <a:t>Somme = 1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</a:rPr>
              <a:t>Calcul exact par énumération, plus Monte-Carlo pour Shapley-Shubik sur les grands jeux. La variante de Banzhaf employée n'est pas neutre : la distinction brut / normalisé décide de l'efficacité (slide 6).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Volet symbolique 1 : encodage SMT (Z3)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6492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550" dirty="0">
                <a:solidFill>
                  <a:srgbClr val="333333"/>
                </a:solidFill>
              </a:rPr>
              <a:t>Plutôt qu'énumérer les coalitions en Python, on confie le raisonnement au solveur SMT Z3.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Chaque joueur devient une variable booléenne (présent ou absent).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Le poids de la coalition est une expression entière, la victoire une contrainte.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Statut des joueurs (veto, nul, dictateur) obtenu par SAT / UNSAT.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Coalitions critiques et minimales énumérées par blocage de modèles.</a:t>
            </a:r>
            <a:endParaRPr lang="en-US" sz="15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550" dirty="0">
                <a:solidFill>
                  <a:srgbClr val="333333"/>
                </a:solidFill>
              </a:rPr>
              <a:t>Les trois indices recalculés intégralement par la voie SMT, concordance testée.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589520" y="1554480"/>
            <a:ext cx="3840480" cy="26974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81812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Garantie de correction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818120" y="2286000"/>
            <a:ext cx="33832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ADCFC"/>
                </a:solidFill>
              </a:rPr>
              <a:t>Deux voies indépendantes 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énumération combinatoire (Python)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</a:rPr>
              <a:t>encodage symbolique (Z3)</a:t>
            </a:r>
            <a:endParaRPr lang="en-US" sz="14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</a:rPr>
              <a:t>Concordance systématique vérifiée par les tests : même statut, mêmes swings, mêmes coalitions minimales.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</a:rPr>
              <a:t>À ces tailles, Z3 sert d'oracle de validation croisée plutôt que d'accélérateur.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Volet symbolique 2 : preuve des axiomes par Z3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Nous soumettons les axiomes des trois indices à Z3. Pour un nombre de joueurs n fixé, les valeurs des coalitions deviennent des variables Z3. Chaque axiome est alors soit prouvé, en montrant que sa négation est insatisfaisable (UNSAT), soit réfuté par un contre-exemple.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377440"/>
          <a:ext cx="1069848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2468880"/>
                <a:gridCol w="2468880"/>
                <a:gridCol w="246888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Axiome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Shapley-Shubik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Banzhaf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Deegan-Packel</a:t>
                      </a:r>
                      <a:endParaRPr lang="en-US" sz="13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Symétrie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Joueur nul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Efficacité (somme = 1)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violé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E2761"/>
                          </a:solidFill>
                        </a:rPr>
                        <a:t>Additivité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C8A4A"/>
                          </a:solidFill>
                        </a:rPr>
                        <a:t>prouvé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C0392B"/>
                          </a:solidFill>
                        </a:rPr>
                        <a:t>violé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B6478"/>
                          </a:solidFill>
                        </a:rPr>
                        <a:t>non défini</a:t>
                      </a:r>
                      <a:endParaRPr lang="en-US" sz="1250" dirty="0"/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45720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</a:rPr>
              <a:t>Lecture : l'efficacité est violée par le Banzhaf brut (somme 0,75 sur [3 ; 1, 1, 1]) ; l'additivité l'est par le normalisé, le brut étant additif. Aucune variante ne concilie les deux, seul Shapley-Shubik y parvient. Preuve bornée par n, à la manière de Tang et Lin (2009).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: Assemblée nationale 2024</a:t>
            </a:r>
            <a:endParaRPr lang="en-US" sz="2700" dirty="0"/>
          </a:p>
        </p:txBody>
      </p:sp>
      <p:pic>
        <p:nvPicPr>
          <p:cNvPr id="4" name="Image 0" descr="/private/tmp/claude-501/-Users-iliaskalalou-EPITA-IA-symbolic/41e9eafa-8b36-4a62-b3f1-971646836a16/scratchpad/slides_t1/power_202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325880"/>
            <a:ext cx="7315200" cy="42062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83880" y="1554480"/>
            <a:ext cx="3291840" cy="36576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412480" y="17830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412480" y="2286000"/>
            <a:ext cx="28346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Aucun groupe n'a la majorité absolue (289 / 577).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Sous Shapley-Shubik, le RN passe de 22,1 % de sièges à 24,8 % de pouvoir.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</a:rPr>
              <a:t>Deegan-Packel égalise fortement : de 7,0 % à 10,7 % seulement.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Coalitions réelles : l'Assemblée en blocs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Au-delà des groupes, on agrège l'Assemblée 2024 en blocs politiques (NFP, Ensemble, RN, DR...), comme le demande le sujet. Le paradoxe réapparaît en grand.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6675120" cy="3108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Trois blocs se partagent tout le pouvoir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NFP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926080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193 sièges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743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33,3 % de pouvoir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Ensemble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26080" y="33101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166 sièges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33101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33,3 % de pouvoir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387705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</a:rPr>
              <a:t>RN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26080" y="387705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126 sièges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754880" y="3877056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33,3 % de pouvoir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45720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</a:rPr>
              <a:t>DR, LIOT et UDR : 0 % de pouvoir malgré leurs sièges (jamais pivots).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80960" y="2057400"/>
            <a:ext cx="3749040" cy="310896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9560" y="22128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Contrefactuel : unir la gauche 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909560" y="258775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Toutes choses égales par ailleurs : seuls les groupes de gauche fusionnent.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909560" y="3154680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595360" y="315468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32,7 %  vers  41,7 %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195560" y="315468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8A4A"/>
                </a:solidFill>
              </a:rPr>
              <a:t>+9,0 pt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909560" y="3813048"/>
            <a:ext cx="685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2022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95360" y="3813048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</a:rPr>
              <a:t>24,1 %  vers  27,1 %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195560" y="3813048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2C8A4A"/>
                </a:solidFill>
              </a:rPr>
              <a:t>+3,1 pt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909560" y="452628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CADCFC"/>
                </a:solidFill>
              </a:rPr>
              <a:t>L'union paie toujours. Mais le pouvoir de pivot est relatif : en 2022, la consolidation du camp présidentiel retire à elle seule 5,0 pts à la gauche, sans que celle-ci bouge.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Confrontation à un vote réel : la censure de 2024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La théorie prédit un pouvoir a priori. La motion de censure du gouvernement Barnier (4 décembre 2024) fournit un vote réel pour la confronter.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12064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Coalition NFP + RN + UDR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2743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335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sièges si discipline parfaite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60120" y="33832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331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voix réelles (seuil requis : 288)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960120" y="411480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</a:rPr>
              <a:t>Coalition gagnante mais non minimale. Groupes réellement critiques : RN, LFI, SOC.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057400"/>
            <a:ext cx="53035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55080" y="2240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L'écart mesure l'imperfection de la discipline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55080" y="288036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50" dirty="0">
                <a:solidFill>
                  <a:srgbClr val="333333"/>
                </a:solidFill>
              </a:rPr>
              <a:t>Notre modèle suppose une discipline de vote parfaite. L'écart de 4 voix entre 335 et 331 la met à l'épreuve.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C0392B"/>
                </a:solidFill>
              </a:rPr>
              <a:t>6 défections internes à la coalition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C8A4A"/>
                </a:solidFill>
              </a:rPr>
              <a:t>2 ralliements externes (1 non-inscrit, 1 LIOT)</a:t>
            </a:r>
            <a:endParaRPr lang="en-US" sz="1350" dirty="0"/>
          </a:p>
          <a:p>
            <a:pPr indent="0" marL="0">
              <a:buNone/>
            </a:pPr>
            <a:r>
              <a:rPr lang="en-US" sz="1250" i="1" dirty="0">
                <a:solidFill>
                  <a:srgbClr val="5B6478"/>
                </a:solidFill>
              </a:rPr>
              <a:t>L'écart net cache donc des mouvements de sens opposés.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mode de scrutin déplace le pouvoir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333333"/>
                </a:solidFill>
              </a:rPr>
              <a:t>À suffrages strictement constants, on fait varier la seule règle d'attribution des sièges et on recalcule le pouvoir. Le mode de scrutin pèse plus que la part de sièges.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2057400"/>
            <a:ext cx="525780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Européennes 2024, pouvoir du RN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60120" y="2788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D'Hondt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9184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30 sièges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27889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50,5 %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60120" y="3429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Sainte-Laguë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29 sièges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0" y="342900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</a:rPr>
              <a:t>50,5 %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60120" y="4069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</a:rPr>
              <a:t>Majoritaire intégral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91840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81 sièges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</a:rPr>
              <a:t>100 %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96012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</a:rPr>
              <a:t>Le majoritaire intégral transforme le RN en dictateur (100 % du pouvoir).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2057400"/>
            <a:ext cx="5257800" cy="3200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0" y="2240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Régionales IdF 2021 : prime majoritaire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0" y="27432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45,9 %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des voix pour la liste en tête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400800" y="33832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59,8 %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  des sièges grâce à la prime → dictateur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CADCFC"/>
                </a:solidFill>
              </a:rPr>
              <a:t>La proportionnelle pure ne lui donnerait que 50 % de pouvoir, partagé. La prime majoritaire fabrique un pouvoir absolu.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1520" y="534924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</a:rPr>
              <a:t>Notre implémentation de D'Hondt reproduit exactement la répartition officielle des 81 sièges français.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109728" cy="566928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38404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et validation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270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286000" y="1508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Jeux de vote pondérés, coalitions, statut des joueurs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17920" y="141732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0" y="152704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indices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772400" y="150876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Shapley-Shubik, Banzhaf, Deegan-Packel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25786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formal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86000" y="2560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Encodage SMT Z3, preuve des axiomes et distinction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0" y="246888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0" y="257860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772400" y="256032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Assemblée, blocs, votes réels, D'Hondt, régionales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4400" y="36301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viz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286000" y="3611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Visualisations sièges, pouvoir, coalitions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3520440"/>
            <a:ext cx="521208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3630168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A9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772400" y="36118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3333"/>
                </a:solidFill>
              </a:rPr>
              <a:t>135 tests : instances de référence et concordance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31520" y="4407408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8"/>
                </a:solidFill>
              </a:rPr>
              <a:t>Validation : le paradoxe [51 ; 49, 48, 3] et le Conseil de sécurité de l'ONU (19,6 % par permanent) sont reproduits à l'identique.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800600"/>
            <a:ext cx="10698480" cy="96012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1520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3246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731520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lignes Python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871216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135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871216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tests au vert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10912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5010912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indices prouvés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150608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7150608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modes de scrutin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290304" y="4919472"/>
            <a:ext cx="21396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2A9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9290304" y="5413248"/>
            <a:ext cx="21396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objectifs traités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T1 - Pouvoir de coalition par vérification formelle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8"/>
                </a:solidFill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651760"/>
            <a:ext cx="12161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Démo</a:t>
            </a:r>
            <a:endParaRPr lang="en-US" sz="8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2A900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7315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914400" y="1691640"/>
            <a:ext cx="10332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Le pouvoir de vote ne se confond pas avec le poids en sièges : nos indices le quantifient et retrouvent exactement les références (paradoxe, ONU).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Z3 sert de vérificateur symbolique : il calcule le statut des joueurs, énumère les coalitions, démontre les axiomes de Shapley-Shubik et de Deegan-Packel, et réfute ceux que Banzhaf viole.</a:t>
            </a:r>
            <a:endParaRPr lang="en-US" sz="1600" dirty="0"/>
          </a:p>
          <a:p>
            <a:pPr marL="342900" indent="-342900">
              <a:spcAft>
                <a:spcPts val="11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</a:rPr>
              <a:t>Sur données réelles, blocs, vote de censure et modes de scrutin montrent que la règle du jeu déplace le pouvoir bien plus que le seul décompte des sièges.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4480560"/>
            <a:ext cx="10332720" cy="1097280"/>
          </a:xfrm>
          <a:prstGeom prst="rect">
            <a:avLst/>
          </a:prstGeom>
          <a:solidFill>
            <a:srgbClr val="2B3A78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4572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</a:rPr>
              <a:t>Limites assumées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493776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Preuve des axiomes bornée (par n testé, pas par induction sur tout n).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</a:rPr>
              <a:t>Un scrutin unique ne donne pas de fréquence empirique de pivot ; la discipline supposée parfaite est mesurée, pas éliminée.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8D4"/>
                </a:solidFill>
              </a:rPr>
              <a:t>Ilias Kalalou  -  Kaelan Grall   |   EPITA SCIA 2026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Pouvoir de coalition par vérification formelle</dc:title>
  <dc:subject>PptxGenJS Presentation</dc:subject>
  <dc:creator>Ilias Kalalou et Kaelan Grall</dc:creator>
  <cp:lastModifiedBy>Ilias Kalalou et Kaelan Grall</cp:lastModifiedBy>
  <cp:revision>1</cp:revision>
  <dcterms:created xsi:type="dcterms:W3CDTF">2026-07-16T17:10:33Z</dcterms:created>
  <dcterms:modified xsi:type="dcterms:W3CDTF">2026-07-16T17:10:33Z</dcterms:modified>
</cp:coreProperties>
</file>