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400" kern="0" dirty="0">
                <a:solidFill>
                  <a:srgbClr val="CADCFC"/>
                </a:solidFill>
              </a:rPr>
              <a:t>INTELLIGENCE SYMBOLIQUE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Pouvoir de coalition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2A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 vérification formelle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371600" y="397764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ADCFC"/>
                </a:solidFill>
              </a:rPr>
              <a:t>Indices de Shapley-Shubik, Banzhaf, Deegan-Packel, preuve par Z3 et données électorales réelles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937760" y="4846320"/>
            <a:ext cx="2286000" cy="0"/>
          </a:xfrm>
          <a:prstGeom prst="line">
            <a:avLst/>
          </a:prstGeom>
          <a:noFill/>
          <a:ln w="19050">
            <a:solidFill>
              <a:srgbClr val="F2A9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50292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Ilias Kalalou  -  Kaelan Grall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54406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EPITA SCIA - 2026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6692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pouvoir n'est pas le poids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6035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</a:rPr>
              <a:t>Dans un vote, la capacité réelle d'un acteur à faire basculer une décision ne se confond pas avec son nombre de sièges ou de voix.</a:t>
            </a:r>
            <a:endParaRPr lang="en-US" sz="16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</a:rPr>
              <a:t>Un petit parti charnière peut peser autant que deux grands blocs.</a:t>
            </a:r>
            <a:endParaRPr lang="en-US" sz="16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</a:rPr>
              <a:t>Un grand parti isolé idéologiquement peut être quasi impuissant.</a:t>
            </a:r>
            <a:endParaRPr lang="en-US" sz="16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</a:rPr>
              <a:t>Mesurer ce pouvoir réel demande des indices spécifiques et une garantie de correction.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406640" y="1554480"/>
            <a:ext cx="4023360" cy="329184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06640" y="18288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A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[ 51 ; 49, 48, 3 ]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406640" y="2423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Trois partis, poids 49, 48 et 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406640" y="28803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/ 3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7589520" y="38862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ADCFC"/>
                </a:solidFill>
              </a:rPr>
              <a:t>de pouvoir pour chacun, y compris le petit parti de poids 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5074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B6478"/>
                </a:solidFill>
              </a:rPr>
              <a:t>Le paradoxe du parti charnière : toute paire atteint le quota, les trois acteurs sont interchangeables.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8"/>
                </a:solidFill>
              </a:rPr>
              <a:t>T1 - Pouvoir de coalition par vérification formelle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6692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: le jeu de vote pondéré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Notation </a:t>
            </a:r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q ; w1, ..., wn ]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057400"/>
            <a:ext cx="64008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Chaque joueur i dispose d'un poids wi (sièges, voix, actions).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Une coalition S l'emporte si la somme de ses poids atteint le quota q.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Fonction caractéristique v(S) = 1 si S gagne, 0 sinon.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Joueur critique (swing) : son départ fait perdre la coalition.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Coalition gagnante minimale : tous ses membres sont critiques.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589520" y="2057400"/>
            <a:ext cx="3840480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0" y="22402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Exemple  [ 3 ; 2, 1, 1 ]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0" y="269748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B6478"/>
                </a:solidFill>
              </a:rPr>
              <a:t>Coalitions gagnantes minimales :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{P0, P1}   {P0, P2}</a:t>
            </a:r>
            <a:endParaRPr lang="en-US" sz="12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P0 est présent dans les deux : il a un droit de veto.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0" y="39776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Shapley-Shubik :  </a:t>
            </a:r>
            <a:pPr indent="0" marL="0">
              <a:buNone/>
            </a:pPr>
            <a:r>
              <a:rPr lang="en-US" sz="1400" b="1" dirty="0">
                <a:solidFill>
                  <a:srgbClr val="F2A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2/3, 1/6, 1/6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8"/>
                </a:solidFill>
              </a:rPr>
              <a:t>T1 - Pouvoir de coalition par vérification formelle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6692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Trois indices de pouvoir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429000" cy="356616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63040"/>
            <a:ext cx="3429000" cy="10972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182880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60120" y="2606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Shapley-Shubik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31546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3333"/>
                </a:solidFill>
              </a:rPr>
              <a:t>Fraction des ordres d'arrivée où le joueur est pivot, celui qui fait basculer la coalition.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60120" y="4526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8A4A"/>
                </a:solidFill>
              </a:rPr>
              <a:t>Somme = 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434840" y="1463040"/>
            <a:ext cx="3429000" cy="356616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34840" y="1463040"/>
            <a:ext cx="3429000" cy="10972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709160" y="182880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470916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663440" y="2606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Banzhaf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663440" y="31546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3333"/>
                </a:solidFill>
              </a:rPr>
              <a:t>Part des coalitions où le joueur est critique. Variante absolue : probabilité d'être décisif.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663440" y="4526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8A4A"/>
                </a:solidFill>
              </a:rPr>
              <a:t>Somme = 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38160" y="1463040"/>
            <a:ext cx="3429000" cy="356616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0" y="1463040"/>
            <a:ext cx="3429000" cy="10972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20" name="Shape 18"/>
          <p:cNvSpPr/>
          <p:nvPr/>
        </p:nvSpPr>
        <p:spPr>
          <a:xfrm>
            <a:off x="8412480" y="182880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8366760" y="2606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Deegan-Packel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66760" y="31546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3333"/>
                </a:solidFill>
              </a:rPr>
              <a:t>Partage égal du pouvoir au sein des seules coalitions gagnantes minimales.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366760" y="4526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8A4A"/>
                </a:solidFill>
              </a:rPr>
              <a:t>Somme = 1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1520" y="52578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8"/>
                </a:solidFill>
              </a:rPr>
              <a:t>Les trois sont calculés de manière exacte (énumération) et, pour Shapley-Shubik, par échantillonnage Monte Carlo pour les grands jeux.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8"/>
                </a:solidFill>
              </a:rPr>
              <a:t>T1 - Pouvoir de coalition par vérification formelle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6692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Validation sur des cas de référence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5120640" cy="33832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783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Paradoxe du petit parti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[ 51 ; 49, 48, 3 ]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83464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33,3 %</a:t>
            </a:r>
            <a:endParaRPr lang="en-US" sz="4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de pouvoir pour chaque parti, malgré des poids 49, 48 et 3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120640" cy="338328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1783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Conseil de sécurité de l'ONU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8368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5 membres permanents à veto + 10 non permanents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0" y="2788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19,6 %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  par membre permanent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583680" y="36118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0,19 %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  par membre non permanent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583680" y="4297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Résultat conforme à Shapley et Shubik (1954).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8"/>
                </a:solidFill>
              </a:rPr>
              <a:t>Les valeurs calculées coïncident exactement avec les références analytiques de la littérature.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8"/>
                </a:solidFill>
              </a:rPr>
              <a:t>T1 - Pouvoir de coalition par vérification formelle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6692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symbolique 1 : encodage SMT (Z3)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64922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550" dirty="0">
                <a:solidFill>
                  <a:srgbClr val="333333"/>
                </a:solidFill>
              </a:rPr>
              <a:t>Plutôt qu'énumérer les coalitions en Python, on confie le raisonnement au solveur SMT Z3.</a:t>
            </a:r>
            <a:endParaRPr lang="en-US" sz="15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550" dirty="0">
                <a:solidFill>
                  <a:srgbClr val="333333"/>
                </a:solidFill>
              </a:rPr>
              <a:t>Chaque joueur devient une variable booléenne (présent ou absent).</a:t>
            </a:r>
            <a:endParaRPr lang="en-US" sz="15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550" dirty="0">
                <a:solidFill>
                  <a:srgbClr val="333333"/>
                </a:solidFill>
              </a:rPr>
              <a:t>Le poids de la coalition est une expression entière, la victoire une contrainte.</a:t>
            </a:r>
            <a:endParaRPr lang="en-US" sz="15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550" dirty="0">
                <a:solidFill>
                  <a:srgbClr val="333333"/>
                </a:solidFill>
              </a:rPr>
              <a:t>Statut des joueurs (veto, nul, dictateur) obtenu par SAT / UNSAT.</a:t>
            </a:r>
            <a:endParaRPr lang="en-US" sz="15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550" dirty="0">
                <a:solidFill>
                  <a:srgbClr val="333333"/>
                </a:solidFill>
              </a:rPr>
              <a:t>Coalitions critiques et minimales énumérées par blocage de modèles.</a:t>
            </a:r>
            <a:endParaRPr lang="en-US" sz="15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550" dirty="0">
                <a:solidFill>
                  <a:srgbClr val="333333"/>
                </a:solidFill>
              </a:rPr>
              <a:t>Les trois indices recalculés intégralement par la voie SMT, concordance testée.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589520" y="1554480"/>
            <a:ext cx="3840480" cy="269748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818120" y="17830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Garantie de correction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818120" y="228600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CADCFC"/>
                </a:solidFill>
              </a:rPr>
              <a:t>Deux voies indépendantes :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énumération combinatoire (Python)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encodage symbolique (Z3)</a:t>
            </a:r>
            <a:endParaRPr lang="en-US" sz="1400" dirty="0"/>
          </a:p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</a:rPr>
              <a:t>Concordance systématique vérifiée par les tests : même statut, mêmes swings, mêmes coalitions minimales.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52120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8"/>
                </a:solidFill>
              </a:rPr>
              <a:t>À ces tailles, Z3 sert d'oracle de validation croisée plutôt que d'accélérateur.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8"/>
                </a:solidFill>
              </a:rPr>
              <a:t>T1 - Pouvoir de coalition par vérification formelle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6692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symbolique 2 : preuve des axiomes par Z3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33333"/>
                </a:solidFill>
              </a:rPr>
              <a:t>Les axiomes des trois indices sont prouvés par Z3. Pour n joueurs fixé, les valeurs des coalitions deviennent des variables Z3 ; chaque axiome est prouvé en montrant que sa négation est insatisfaisable (UNSAT).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423160"/>
            <a:ext cx="5212080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2423160"/>
            <a:ext cx="109728" cy="1143000"/>
          </a:xfrm>
          <a:prstGeom prst="rect">
            <a:avLst/>
          </a:prstGeom>
          <a:solidFill>
            <a:srgbClr val="2C8A4A"/>
          </a:solidFill>
          <a:ln/>
        </p:spPr>
      </p:sp>
      <p:sp>
        <p:nvSpPr>
          <p:cNvPr id="7" name="Text 5"/>
          <p:cNvSpPr/>
          <p:nvPr/>
        </p:nvSpPr>
        <p:spPr>
          <a:xfrm>
            <a:off x="4709160" y="2587752"/>
            <a:ext cx="1097280" cy="320040"/>
          </a:xfrm>
          <a:prstGeom prst="rect">
            <a:avLst/>
          </a:prstGeom>
          <a:solidFill>
            <a:srgbClr val="2C8A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PROUVÉ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Efficacité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295351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</a:rPr>
              <a:t>La somme des pouvoirs égale la valeur de la grande coalition.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2423160"/>
            <a:ext cx="5212080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2423160"/>
            <a:ext cx="109728" cy="1143000"/>
          </a:xfrm>
          <a:prstGeom prst="rect">
            <a:avLst/>
          </a:prstGeom>
          <a:solidFill>
            <a:srgbClr val="2C8A4A"/>
          </a:solidFill>
          <a:ln/>
        </p:spPr>
      </p:sp>
      <p:sp>
        <p:nvSpPr>
          <p:cNvPr id="12" name="Text 10"/>
          <p:cNvSpPr/>
          <p:nvPr/>
        </p:nvSpPr>
        <p:spPr>
          <a:xfrm>
            <a:off x="10195560" y="2587752"/>
            <a:ext cx="1097280" cy="320040"/>
          </a:xfrm>
          <a:prstGeom prst="rect">
            <a:avLst/>
          </a:prstGeom>
          <a:solidFill>
            <a:srgbClr val="2C8A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PROUVÉ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9224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Joueur nul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92240" y="295351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</a:rPr>
              <a:t>Un joueur sans influence reçoit un pouvoir nul.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31520" y="3749040"/>
            <a:ext cx="5212080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3749040"/>
            <a:ext cx="109728" cy="1143000"/>
          </a:xfrm>
          <a:prstGeom prst="rect">
            <a:avLst/>
          </a:prstGeom>
          <a:solidFill>
            <a:srgbClr val="2C8A4A"/>
          </a:solidFill>
          <a:ln/>
        </p:spPr>
      </p:sp>
      <p:sp>
        <p:nvSpPr>
          <p:cNvPr id="17" name="Text 15"/>
          <p:cNvSpPr/>
          <p:nvPr/>
        </p:nvSpPr>
        <p:spPr>
          <a:xfrm>
            <a:off x="4709160" y="3913632"/>
            <a:ext cx="1097280" cy="320040"/>
          </a:xfrm>
          <a:prstGeom prst="rect">
            <a:avLst/>
          </a:prstGeom>
          <a:solidFill>
            <a:srgbClr val="2C8A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PROUVÉ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05840" y="3886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Symétrie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005840" y="427939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</a:rPr>
              <a:t>Deux joueurs interchangeables reçoivent le même pouvoir.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17920" y="3749040"/>
            <a:ext cx="5212080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17920" y="3749040"/>
            <a:ext cx="109728" cy="1143000"/>
          </a:xfrm>
          <a:prstGeom prst="rect">
            <a:avLst/>
          </a:prstGeom>
          <a:solidFill>
            <a:srgbClr val="2C8A4A"/>
          </a:solidFill>
          <a:ln/>
        </p:spPr>
      </p:sp>
      <p:sp>
        <p:nvSpPr>
          <p:cNvPr id="22" name="Text 20"/>
          <p:cNvSpPr/>
          <p:nvPr/>
        </p:nvSpPr>
        <p:spPr>
          <a:xfrm>
            <a:off x="10195560" y="3913632"/>
            <a:ext cx="1097280" cy="320040"/>
          </a:xfrm>
          <a:prstGeom prst="rect">
            <a:avLst/>
          </a:prstGeom>
          <a:solidFill>
            <a:srgbClr val="2C8A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PROUVÉ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92240" y="3886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Additivité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92240" y="427939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</a:rPr>
              <a:t>Le pouvoir est additif sur la somme de deux jeux (Shapley-Shubik).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8"/>
                </a:solidFill>
              </a:rPr>
              <a:t>Ce qui distingue les indices : Z3 établit que seul Shapley-Shubik concilie efficacité et additivité. Banzhaf viole l'efficacité (contre-exemple exhibé par Z3). Preuve bornée par n, à la manière de Tang et Lin (2009).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8"/>
                </a:solidFill>
              </a:rPr>
              <a:t>T1 - Pouvoir de coalition par vérification formelle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6692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: Assemblée nationale 2024</a:t>
            </a:r>
            <a:endParaRPr lang="en-US" sz="2700" dirty="0"/>
          </a:p>
        </p:txBody>
      </p:sp>
      <p:pic>
        <p:nvPicPr>
          <p:cNvPr id="4" name="Image 0" descr="/private/tmp/claude-501/-Users-iliaskalalou-EPITA-IA-symbolic/41e9eafa-8b36-4a62-b3f1-971646836a16/scratchpad/slides_t1/power_202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325880"/>
            <a:ext cx="73152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183880" y="1554480"/>
            <a:ext cx="3291840" cy="365760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412480" y="17830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412480" y="2286000"/>
            <a:ext cx="2834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Aucun groupe n'a la majorité absolue (289 / 577).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Sous Shapley-Shubik, le RN passe de 22,1 % de sièges à 24,8 % de pouvoir.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Deegan-Packel égalise fortement : de 7,0 % à 10,7 % seulement.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8"/>
                </a:solidFill>
              </a:rPr>
              <a:t>T1 - Pouvoir de coalition par vérification formelle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6692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Pouvoir contre sièges : qui gagne, qui perd</a:t>
            </a:r>
            <a:endParaRPr lang="en-US" sz="2700" dirty="0"/>
          </a:p>
        </p:txBody>
      </p:sp>
      <p:pic>
        <p:nvPicPr>
          <p:cNvPr id="4" name="Image 0" descr="/private/tmp/claude-501/-Users-iliaskalalou-EPITA-IA-symbolic/41e9eafa-8b36-4a62-b3f1-971646836a16/scratchpad/slides_t1/gap_202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325880"/>
            <a:ext cx="73152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183880" y="1554480"/>
            <a:ext cx="32918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412480" y="1783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Écart Shapley-Shubik moins part de sièges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412480" y="260604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Barres vertes : pouvoir supérieur au poids (grands blocs centraux).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Barres rouges : poids supérieur au pouvoir (petits groupes).</a:t>
            </a:r>
            <a:endParaRPr lang="en-US" sz="1350" dirty="0"/>
          </a:p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</a:rPr>
              <a:t>Le scrutin majoritaire concentre le pouvoir de pivot sur les plus gros.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8"/>
                </a:solidFill>
              </a:rPr>
              <a:t>T1 - Pouvoir de coalition par vérification formelle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6692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Coalitions réelles : l'Assemblée en blocs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33333"/>
                </a:solidFill>
              </a:rPr>
              <a:t>Au-delà des groupes, on agrège l'Assemblée 2024 en blocs politiques (NFP, Ensemble, RN, LR...), comme le demande le sujet. Le paradoxe réapparaît en grand.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057400"/>
            <a:ext cx="6675120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2402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Trois blocs se partagent tout le pouvoir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2743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NFP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92608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193 sièges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754880" y="2743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900"/>
                </a:solidFill>
              </a:rPr>
              <a:t>33,3 % de pouvoir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6012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Ensemble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926080" y="3310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166 sièges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54880" y="33101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900"/>
                </a:solidFill>
              </a:rPr>
              <a:t>33,3 % de pouvoir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0120" y="387705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RN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87705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126 sièges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54880" y="387705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900"/>
                </a:solidFill>
              </a:rPr>
              <a:t>33,3 % de pouvoir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60120" y="457200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478"/>
                </a:solidFill>
              </a:rPr>
              <a:t>LR, LIOT et UDR : 0 % de pouvoir malgré leurs sièges (jamais pivots).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680960" y="2057400"/>
            <a:ext cx="3749040" cy="310896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909560" y="22402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Contrefactuel : unir la gauche ?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909560" y="278892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FFFFFF"/>
                </a:solidFill>
              </a:rPr>
              <a:t>Fusionner la gauche en un seul bloc ne fait passer son pouvoir que de 32,7 % à 33,3 %.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Gain quasi nul : +0,7 point.</a:t>
            </a:r>
            <a:endParaRPr lang="en-US" sz="1350" dirty="0"/>
          </a:p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</a:rPr>
              <a:t>L'union n'apporte du pouvoir que si elle crée une position de pivot, pas mécaniquement.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8"/>
                </a:solidFill>
              </a:rPr>
              <a:t>T1 - Pouvoir de coalition par vérification formelle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6692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Confrontation à un vote réel : la censure de 2024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33333"/>
                </a:solidFill>
              </a:rPr>
              <a:t>La théorie prédit un pouvoir a priori. La motion de censure du gouvernement Barnier (4 décembre 2024) fournit un vote réel pour la confronter.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057400"/>
            <a:ext cx="5120640" cy="320040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2402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Coalition NFP + RN + UDR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27432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335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  sièges si discipline parfaite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960120" y="33832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A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331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  voix réelles (seuil requis : 288)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960120" y="411480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</a:rPr>
              <a:t>Coalition gagnante mais non minimale. Groupes réellement critiques : RN, LFI, SOC.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0" y="2057400"/>
            <a:ext cx="530352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55080" y="22402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L'écart mesure l'imperfection de la discipline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355080" y="288036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333333"/>
                </a:solidFill>
              </a:rPr>
              <a:t>Notre modèle suppose une discipline de vote parfaite. L'écart de 4 voix entre 335 et 331 la met à l'épreuve.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C0392B"/>
                </a:solidFill>
              </a:rPr>
              <a:t>6 défections internes à la coalition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C8A4A"/>
                </a:solidFill>
              </a:rPr>
              <a:t>2 ralliements externes (1 non-inscrit, 1 LIOT)</a:t>
            </a:r>
            <a:endParaRPr lang="en-US" sz="13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478"/>
                </a:solidFill>
              </a:rPr>
              <a:t>L'écart net cache donc des mouvements de sens opposés.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8"/>
                </a:solidFill>
              </a:rPr>
              <a:t>T1 - Pouvoir de coalition par vérification formelle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6692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: européennes 2024 (D'Hondt)</a:t>
            </a:r>
            <a:endParaRPr lang="en-US" sz="2700" dirty="0"/>
          </a:p>
        </p:txBody>
      </p:sp>
      <p:pic>
        <p:nvPicPr>
          <p:cNvPr id="4" name="Image 0" descr="/private/tmp/claude-501/-Users-iliaskalalou-EPITA-IA-symbolic/41e9eafa-8b36-4a62-b3f1-971646836a16/scratchpad/slides_t1/dhondt_202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371600"/>
            <a:ext cx="6949440" cy="40233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863840" y="1554480"/>
            <a:ext cx="3611880" cy="320040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092440" y="17830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Proportionnelle à la plus forte moyenne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092440" y="260604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81 sièges, seuil de 5 %.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Notre implémentation reproduit exactement la répartition officielle.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Le dernier siège s'obtient à un quotient frontière : c'est le prix effectif d'un siège.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8"/>
                </a:solidFill>
              </a:rPr>
              <a:t>T1 - Pouvoir de coalition par vérification formelle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6692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mode de scrutin déplace le pouvoir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33333"/>
                </a:solidFill>
              </a:rPr>
              <a:t>À suffrages strictement constants, on fait varier la seule règle d'attribution des sièges et on recalcule le pouvoir. Le mode de scrutin pèse plus que la part de sièges.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057400"/>
            <a:ext cx="525780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2402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Européennes 2024, pouvoir du RN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788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D'Hondt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91840" y="27889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30 sièges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0" y="27889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900"/>
                </a:solidFill>
              </a:rPr>
              <a:t>50,5 %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60120" y="3429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Sainte-Laguë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91840" y="34290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29 sièges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0" y="34290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900"/>
                </a:solidFill>
              </a:rPr>
              <a:t>50,5 %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012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Majoritaire intégral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91840" y="4069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81 sièges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</a:rPr>
              <a:t>100 %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60120" y="47548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8"/>
                </a:solidFill>
              </a:rPr>
              <a:t>Le majoritaire intégral transforme le RN en dictateur (100 % du pouvoir).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72200" y="2057400"/>
            <a:ext cx="5257800" cy="320040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22402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Régionales IdF 2021 : prime majoritaire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0" y="27432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45,9 %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  des voix pour la liste en tête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400800" y="33832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59,8 %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  des sièges grâce à la prime → dictateur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400800" y="41148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</a:rPr>
              <a:t>La proportionnelle pure ne lui donnerait que 50 % de pouvoir, partagé. La prime majoritaire fabrique un pouvoir absolu.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8"/>
                </a:solidFill>
              </a:rPr>
              <a:t>T1 - Pouvoir de coalition par vérification formelle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6692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et validation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521208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52704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15087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Jeux de vote pondérés, coalitions, statut des joueurs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417320"/>
            <a:ext cx="521208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0" y="152704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indices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0" y="15087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Shapley-Shubik, Banzhaf, Deegan-Packel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468880"/>
            <a:ext cx="521208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257860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286000" y="25603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Encodage SMT Z3, preuve des axiomes et distinction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2468880"/>
            <a:ext cx="521208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0" y="257860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772400" y="25603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Assemblée, blocs, votes réels, D'Hondt, régionales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3520440"/>
            <a:ext cx="521208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363016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286000" y="36118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Visualisations sièges, pouvoir, coalitions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3520440"/>
            <a:ext cx="521208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0" y="363016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772400" y="36118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131 tests : instances de référence et concordance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1520" y="4919472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2A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3107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31520" y="5413248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lignes Python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871216" y="4919472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2A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131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2871216" y="5413248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tests au vert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10912" y="4919472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2A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5010912" y="5413248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indices prouvés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150608" y="4919472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2A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7150608" y="5413248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modes de scrutin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290304" y="4919472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2A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9290304" y="5413248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livrables : app + notebook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8"/>
                </a:solidFill>
              </a:rPr>
              <a:t>T1 - Pouvoir de coalition par vérification formelle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691640"/>
            <a:ext cx="10332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</a:rPr>
              <a:t>Le pouvoir de vote ne se confond pas avec le poids en sièges : nos indices le quantifient et retrouvent exactement les références (paradoxe, ONU).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</a:rPr>
              <a:t>Z3 sert de vérificateur symbolique : il calcule le statut des joueurs, énumère les coalitions et démontre les axiomes des trois indices.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</a:rPr>
              <a:t>Sur données réelles, blocs, vote de censure et modes de scrutin montrent que la règle du jeu déplace le pouvoir bien plus que le seul décompte des sièges.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14400" y="4480560"/>
            <a:ext cx="10332720" cy="1097280"/>
          </a:xfrm>
          <a:prstGeom prst="rect">
            <a:avLst/>
          </a:prstGeom>
          <a:solidFill>
            <a:srgbClr val="2B3A78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4572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900"/>
                </a:solidFill>
              </a:rPr>
              <a:t>Limites assumées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49377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Preuve des axiomes bornée (par n testé, pas par induction sur tout n).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Un scrutin unique ne donne pas de fréquence empirique de pivot ; la discipline supposée parfaite est mesurée, pas éliminée.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59436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8D4"/>
                </a:solidFill>
              </a:rPr>
              <a:t>Ilias Kalalou  -  Kaelan Grall   |   EPITA SCIA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Pouvoir de coalition par vérification formelle</dc:title>
  <dc:subject>PptxGenJS Presentation</dc:subject>
  <dc:creator>Ilias Kalalou et Kaelan Grall</dc:creator>
  <cp:lastModifiedBy>Ilias Kalalou et Kaelan Grall</cp:lastModifiedBy>
  <cp:revision>1</cp:revision>
  <dcterms:created xsi:type="dcterms:W3CDTF">2026-07-14T21:00:43Z</dcterms:created>
  <dcterms:modified xsi:type="dcterms:W3CDTF">2026-07-14T21:00:43Z</dcterms:modified>
</cp:coreProperties>
</file>